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23E_CF64A26B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572" r:id="rId2"/>
    <p:sldId id="57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62AF-CBB6-38E3-1BEB-2DC962BE3232}" name="Michael Kennedy" initials="MK" userId="S::Michael.Kennedy@uk.moovelub.com::3f4b5d3d-713f-4bd0-b002-f4de26e703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8721B7-9452-4134-3225-4B9C0A547E8D}" v="68" dt="2026-02-23T15:34:30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comments/modernComment_23E_CF64A2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AE0C35-EE8F-43EE-8FDD-2DCCA5B31053}" authorId="{866C62AF-CBB6-38E3-1BEB-2DC962BE3232}" created="2026-01-06T15:14:56.4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9478891" sldId="574"/>
      <ac:spMk id="29" creationId="{F744FDFA-5C11-D950-8E2B-85926FCCD862}"/>
      <ac:txMk cp="43" len="1">
        <ac:context len="49" hash="2759391730"/>
      </ac:txMk>
    </ac:txMkLst>
    <p188:pos x="1507041" y="924182"/>
    <p188:txBody>
      <a:bodyPr/>
      <a:lstStyle/>
      <a:p>
        <a:r>
          <a:rPr lang="en-GB"/>
          <a:t>I think this should be tyler...just an idea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84325-6E36-4E12-98D3-99525EA2384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9164A-863E-45AD-838B-99B8D9C5C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63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A9B4-2C8D-016B-4559-452A20E1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29127-0242-7BF7-538A-5578E913F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92C01-BF52-2CBB-4DED-4A5DDD0BB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7DC79-A115-A6F0-2327-875191AE7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D53A4F-4837-4333-BD34-C3010E17273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273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8371-D2BE-2365-9567-7253B036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3336C-7421-1E6B-B438-C394FE46A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E517B-C2BC-F8E1-5846-121C0F1DF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5E89D-B92B-A4EC-AEC8-61641DB36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D53A4F-4837-4333-BD34-C3010E17273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01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D5E8-D5D2-9F43-B647-2F8D45AE4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5490D-3FA7-A964-D151-3A69217D6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5CDB3-501E-5038-D63C-8700BE09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403A8-B1FB-1021-20F5-53B0613A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2A79-B40D-CE50-65DD-5A43204F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1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1C5C-85D5-A0B9-782E-DA0BCD11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7904-F2BB-7853-4C3D-39637E35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68971-B139-B2FB-3120-2B6A2A16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88FE-3BDA-8961-06AF-6BDBEC4A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70F84-ABBA-F787-BF46-74AE6FA3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50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16D6-BBAF-151B-F308-9ABD6989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072C2-FFC1-7C01-754D-4C5840D9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F9C74-837D-5463-F168-37C137A2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7312F-C385-6E7F-258D-ED2FC1F9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A970B-24B9-8209-CF1D-70C1F640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79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1EAA-0CC9-A97C-F6BD-A4E63DF9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EC82-8F06-752A-2CBF-760D0BB08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50442-ED36-853F-C833-3D4D7DAF0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2DC35-D351-48AC-DFB4-AFD3FEA4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19DDA-1AB1-CB40-A1EE-EA5C3EE4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6C131-16CE-F77F-6C85-94EAC290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87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0658-5F88-6D52-259E-C3B6A840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A915-A0CD-9B6D-4012-54D4BB2ED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7561B-ACDF-AF75-F98D-A6A454F7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3A251-791E-9BB0-5A85-F725EC41E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46519-0C4C-DA78-61CD-BCBEADE72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4D484-AD74-30AC-154F-15A14D25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2AD84-BE1B-8491-2A8F-3F95D0CF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54181-38B2-A845-B60A-482ADFBF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30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2205-7DCA-04CE-7546-61CE3786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DB3E7-DE91-9D9D-5AE1-7FBAB03E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16017-A307-4F26-9547-B92084B9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E8F99-D83C-FDA9-D898-85EA47D1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16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8C99D-1927-18E1-11C8-85472C7CE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6849C-2351-B0E5-786D-BC4715DC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1326D-62DE-BE4D-B194-571D3D25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29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8368-13CD-1D04-AED7-5B6387D6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FE11-7213-E099-8456-BA4C4C6F7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58844-F494-50EA-C5C5-64E886F68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5E1B4-690A-1C5D-9129-9AE932DB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7CA49-281D-5D88-7AA1-ADBCA104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2A1CA-FE80-01D7-1C3A-158BF8A0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454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103D-EF1B-B7CD-5184-C616D7EC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4CEDE-6E59-1148-A96A-C0D48B209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45101-3471-10E2-5E27-67A7CB2E2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C2C41-930E-E0D6-7281-4274E3674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198EF-3C9B-7AFB-1722-47A958B1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63392-EA9F-B618-F556-DA2D762C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21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E222-FBC1-36E7-66DF-AB1C4F36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63D20-BD18-E192-CF4A-41921B129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8C9BF-79CA-5904-1AA9-6C76FF34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EA6D-81B9-4483-38B4-B21428F2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45979-AA1F-5341-AB1E-940BFD43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67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A30DC-4A58-F720-90D9-1276EF1B5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381E-7EDB-AE7B-1FD3-696945FEC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E854B-EBDC-D1C3-A00A-676D6FDF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A246-5E25-DD0D-4C4B-A4912541A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06292-2192-9BAA-6D2A-66CAD10E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90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7"/>
          <p:cNvSpPr txBox="1">
            <a:spLocks noGrp="1"/>
          </p:cNvSpPr>
          <p:nvPr>
            <p:ph type="title"/>
          </p:nvPr>
        </p:nvSpPr>
        <p:spPr>
          <a:xfrm>
            <a:off x="603251" y="539751"/>
            <a:ext cx="109856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lvl9pPr>
          </a:lstStyle>
          <a:p>
            <a:endParaRPr/>
          </a:p>
        </p:txBody>
      </p:sp>
      <p:sp>
        <p:nvSpPr>
          <p:cNvPr id="653" name="Google Shape;653;p67"/>
          <p:cNvSpPr txBox="1">
            <a:spLocks noGrp="1"/>
          </p:cNvSpPr>
          <p:nvPr>
            <p:ph type="body" idx="1"/>
          </p:nvPr>
        </p:nvSpPr>
        <p:spPr>
          <a:xfrm>
            <a:off x="603251" y="1186481"/>
            <a:ext cx="10985600" cy="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800" b="1"/>
            </a:lvl1pPr>
            <a:lvl2pPr marL="1219170" lvl="1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2pPr>
            <a:lvl3pPr marL="1828754" lvl="2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3pPr>
            <a:lvl4pPr marL="2438339" lvl="3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lvl4pPr>
            <a:lvl5pPr marL="3047924" lvl="4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5pPr>
            <a:lvl6pPr marL="3657509" lvl="5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6pPr>
            <a:lvl7pPr marL="4267093" lvl="6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lvl7pPr>
            <a:lvl8pPr marL="4876678" lvl="7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8pPr>
            <a:lvl9pPr marL="5486263" lvl="8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9pPr>
          </a:lstStyle>
          <a:p>
            <a:endParaRPr/>
          </a:p>
        </p:txBody>
      </p:sp>
      <p:sp>
        <p:nvSpPr>
          <p:cNvPr id="654" name="Google Shape;654;p67"/>
          <p:cNvSpPr txBox="1">
            <a:spLocks noGrp="1"/>
          </p:cNvSpPr>
          <p:nvPr>
            <p:ph type="body" idx="2"/>
          </p:nvPr>
        </p:nvSpPr>
        <p:spPr>
          <a:xfrm>
            <a:off x="603251" y="2124252"/>
            <a:ext cx="10985600" cy="4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609585" lvl="0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lvl1pPr>
            <a:lvl2pPr marL="1219170" lvl="1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2pPr>
            <a:lvl3pPr marL="1828754" lvl="2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3pPr>
            <a:lvl4pPr marL="2438339" lvl="3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lvl4pPr>
            <a:lvl5pPr marL="3047924" lvl="4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5pPr>
            <a:lvl6pPr marL="3657509" lvl="5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6pPr>
            <a:lvl7pPr marL="4267093" lvl="6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lvl7pPr>
            <a:lvl8pPr marL="4876678" lvl="7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</a:lvl8pPr>
            <a:lvl9pPr marL="5486263" lvl="8" indent="-372524" algn="l" rtl="0">
              <a:lnSpc>
                <a:spcPct val="90000"/>
              </a:lnSpc>
              <a:spcBef>
                <a:spcPts val="2267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</a:lvl9pPr>
          </a:lstStyle>
          <a:p>
            <a:endParaRPr/>
          </a:p>
        </p:txBody>
      </p:sp>
      <p:sp>
        <p:nvSpPr>
          <p:cNvPr id="655" name="Google Shape;655;p67"/>
          <p:cNvSpPr txBox="1">
            <a:spLocks noGrp="1"/>
          </p:cNvSpPr>
          <p:nvPr>
            <p:ph type="sldNum" idx="12"/>
          </p:nvPr>
        </p:nvSpPr>
        <p:spPr>
          <a:xfrm>
            <a:off x="6000749" y="6409699"/>
            <a:ext cx="184400" cy="325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933"/>
            </a:lvl9pPr>
          </a:lstStyle>
          <a:p>
            <a:fld id="{00000000-1234-1234-1234-123412341234}" type="slidenum">
              <a:rPr lang="pt-BR" smtClean="0"/>
              <a:t>‹#›</a:t>
            </a:fld>
            <a:endParaRPr sz="667"/>
          </a:p>
        </p:txBody>
      </p:sp>
    </p:spTree>
    <p:extLst>
      <p:ext uri="{BB962C8B-B14F-4D97-AF65-F5344CB8AC3E}">
        <p14:creationId xmlns:p14="http://schemas.microsoft.com/office/powerpoint/2010/main" val="274337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97AD0F-C366-632F-64F0-B6303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03B3A-9E56-5E20-5FC9-E10F2F753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7B88E-EC87-E370-56D1-4AEEF4DCE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E271B-E306-4BE7-ADAD-8B2F80EF035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0FCD6-4E47-560E-6ACD-9C1169F00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5D280-6ACD-28B3-8602-71BBAF319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E544B-3A04-4F10-90E7-F459982B4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1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E_CF64A26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86C08-4B3D-8610-4989-E8390CB2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Elipse 13">
            <a:extLst>
              <a:ext uri="{FF2B5EF4-FFF2-40B4-BE49-F238E27FC236}">
                <a16:creationId xmlns:a16="http://schemas.microsoft.com/office/drawing/2014/main" id="{DAE91B7E-25D7-EC0F-2980-7C331D02A2E3}"/>
              </a:ext>
            </a:extLst>
          </p:cNvPr>
          <p:cNvSpPr/>
          <p:nvPr/>
        </p:nvSpPr>
        <p:spPr>
          <a:xfrm>
            <a:off x="10003240" y="-1697627"/>
            <a:ext cx="2883269" cy="2883269"/>
          </a:xfrm>
          <a:prstGeom prst="ellipse">
            <a:avLst/>
          </a:prstGeom>
          <a:solidFill>
            <a:srgbClr val="AA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 14pt ExtraLight"/>
              <a:ea typeface="+mn-ea"/>
              <a:cs typeface="+mn-cs"/>
            </a:endParaRPr>
          </a:p>
        </p:txBody>
      </p:sp>
      <p:pic>
        <p:nvPicPr>
          <p:cNvPr id="71" name="Imagem 17" descr="Logotipo, Ícone&#10;&#10;Descrição gerada automaticamente">
            <a:extLst>
              <a:ext uri="{FF2B5EF4-FFF2-40B4-BE49-F238E27FC236}">
                <a16:creationId xmlns:a16="http://schemas.microsoft.com/office/drawing/2014/main" id="{D2011CCD-722D-C417-3C16-F1C0E6A796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1838" y="307533"/>
            <a:ext cx="1335587" cy="27830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DB70CC-F8D4-AD8E-BFB4-CFE1C2505AB8}"/>
              </a:ext>
            </a:extLst>
          </p:cNvPr>
          <p:cNvSpPr/>
          <p:nvPr/>
        </p:nvSpPr>
        <p:spPr>
          <a:xfrm>
            <a:off x="9160489" y="3138385"/>
            <a:ext cx="2115650" cy="2613348"/>
          </a:xfrm>
          <a:prstGeom prst="roundRect">
            <a:avLst/>
          </a:prstGeom>
          <a:solidFill>
            <a:schemeClr val="bg1"/>
          </a:solidFill>
          <a:ln>
            <a:solidFill>
              <a:srgbClr val="AA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Leadership Committee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Sharlene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Lola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3F44D2-A9C2-C392-4019-0EA2D985CB07}"/>
              </a:ext>
            </a:extLst>
          </p:cNvPr>
          <p:cNvSpPr/>
          <p:nvPr/>
        </p:nvSpPr>
        <p:spPr>
          <a:xfrm>
            <a:off x="5114375" y="3138385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UK S&amp;OE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Natalija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1B6D0C-15B7-F214-3E80-ACBD50E84E2B}"/>
              </a:ext>
            </a:extLst>
          </p:cNvPr>
          <p:cNvSpPr/>
          <p:nvPr/>
        </p:nvSpPr>
        <p:spPr>
          <a:xfrm>
            <a:off x="5111955" y="4927501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Iberia S&amp;OE</a:t>
            </a:r>
            <a:b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</a:t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Wilfred</a:t>
            </a:r>
            <a:b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742196-F7EF-0D26-2FEB-D2D3863EF923}"/>
              </a:ext>
            </a:extLst>
          </p:cNvPr>
          <p:cNvSpPr/>
          <p:nvPr/>
        </p:nvSpPr>
        <p:spPr>
          <a:xfrm>
            <a:off x="5114375" y="4036838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France S&amp;OE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Wilfred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8C7DB85-FF53-FEEA-C711-3A6B3EA41C73}"/>
              </a:ext>
            </a:extLst>
          </p:cNvPr>
          <p:cNvSpPr/>
          <p:nvPr/>
        </p:nvSpPr>
        <p:spPr>
          <a:xfrm>
            <a:off x="1037040" y="3118920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O2C Process 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Review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Vicky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Alex</a:t>
            </a: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061F26-2775-1587-47E1-D1D2C30ECC60}"/>
              </a:ext>
            </a:extLst>
          </p:cNvPr>
          <p:cNvSpPr/>
          <p:nvPr/>
        </p:nvSpPr>
        <p:spPr>
          <a:xfrm>
            <a:off x="1051529" y="4017373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Traded Supply Meeting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Ed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Tyler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12E457-36FC-1A36-7BD0-4A9106706ED6}"/>
              </a:ext>
            </a:extLst>
          </p:cNvPr>
          <p:cNvSpPr/>
          <p:nvPr/>
        </p:nvSpPr>
        <p:spPr>
          <a:xfrm>
            <a:off x="1051529" y="4920736"/>
            <a:ext cx="2115650" cy="830997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Manufactured Supply Meeting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Ian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Dom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56F5EA-692D-173B-7179-9717D0EE61EB}"/>
              </a:ext>
            </a:extLst>
          </p:cNvPr>
          <p:cNvSpPr/>
          <p:nvPr/>
        </p:nvSpPr>
        <p:spPr>
          <a:xfrm>
            <a:off x="9160489" y="2436027"/>
            <a:ext cx="2115650" cy="539169"/>
          </a:xfrm>
          <a:prstGeom prst="roundRect">
            <a:avLst/>
          </a:prstGeom>
          <a:solidFill>
            <a:srgbClr val="AACD00"/>
          </a:solidFill>
          <a:ln>
            <a:solidFill>
              <a:srgbClr val="AA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Escalation Topics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4424BA-83E1-0227-2447-043A8A59D750}"/>
              </a:ext>
            </a:extLst>
          </p:cNvPr>
          <p:cNvSpPr/>
          <p:nvPr/>
        </p:nvSpPr>
        <p:spPr>
          <a:xfrm>
            <a:off x="5104710" y="2443684"/>
            <a:ext cx="2115650" cy="539169"/>
          </a:xfrm>
          <a:prstGeom prst="roundRect">
            <a:avLst/>
          </a:prstGeom>
          <a:solidFill>
            <a:srgbClr val="0C3C5D"/>
          </a:solidFill>
          <a:ln>
            <a:solidFill>
              <a:srgbClr val="0C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Actions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4453213-D25C-1FF6-A5AD-BF0B7645CAEF}"/>
              </a:ext>
            </a:extLst>
          </p:cNvPr>
          <p:cNvSpPr/>
          <p:nvPr/>
        </p:nvSpPr>
        <p:spPr>
          <a:xfrm>
            <a:off x="1051529" y="2420847"/>
            <a:ext cx="2115650" cy="539169"/>
          </a:xfrm>
          <a:prstGeom prst="roundRect">
            <a:avLst/>
          </a:prstGeom>
          <a:solidFill>
            <a:srgbClr val="B1CCBB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Detailed Inputs</a:t>
            </a:r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F994D923-1721-79F1-64FF-7BD16C1C54CF}"/>
              </a:ext>
            </a:extLst>
          </p:cNvPr>
          <p:cNvSpPr/>
          <p:nvPr/>
        </p:nvSpPr>
        <p:spPr>
          <a:xfrm rot="10800000">
            <a:off x="3167179" y="2448115"/>
            <a:ext cx="1791119" cy="484632"/>
          </a:xfrm>
          <a:prstGeom prst="leftArrow">
            <a:avLst/>
          </a:prstGeom>
          <a:solidFill>
            <a:srgbClr val="B1CCBB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DE32E687-732B-5603-B397-03BEB0FFF617}"/>
              </a:ext>
            </a:extLst>
          </p:cNvPr>
          <p:cNvSpPr/>
          <p:nvPr/>
        </p:nvSpPr>
        <p:spPr>
          <a:xfrm rot="10800000">
            <a:off x="7224747" y="2460525"/>
            <a:ext cx="1780253" cy="484632"/>
          </a:xfrm>
          <a:prstGeom prst="leftArrow">
            <a:avLst/>
          </a:prstGeom>
          <a:solidFill>
            <a:srgbClr val="0C3C5D"/>
          </a:solidFill>
          <a:ln>
            <a:solidFill>
              <a:srgbClr val="0C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FFBA06-17FA-50B0-BA88-B065B0DE0818}"/>
              </a:ext>
            </a:extLst>
          </p:cNvPr>
          <p:cNvSpPr txBox="1"/>
          <p:nvPr/>
        </p:nvSpPr>
        <p:spPr>
          <a:xfrm>
            <a:off x="1075140" y="305344"/>
            <a:ext cx="800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Business Optimisation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supporting</a:t>
            </a:r>
            <a:r>
              <a:rPr kumimoji="0" lang="en-GB" sz="200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0F6B4-752F-6879-4A22-EDE6F8973ECE}"/>
              </a:ext>
            </a:extLst>
          </p:cNvPr>
          <p:cNvSpPr txBox="1"/>
          <p:nvPr/>
        </p:nvSpPr>
        <p:spPr>
          <a:xfrm>
            <a:off x="1075140" y="728266"/>
            <a:ext cx="7667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ORDER TO CASH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GOVERNANCE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8EBCE-74F3-482A-79D7-DB0CCDEA6773}"/>
              </a:ext>
            </a:extLst>
          </p:cNvPr>
          <p:cNvSpPr txBox="1"/>
          <p:nvPr/>
        </p:nvSpPr>
        <p:spPr>
          <a:xfrm>
            <a:off x="1049740" y="1450907"/>
            <a:ext cx="21301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alignment on key messages &amp; data for S&amp;OE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CE167D-8559-EA20-1EAE-C6A667A6D385}"/>
              </a:ext>
            </a:extLst>
          </p:cNvPr>
          <p:cNvSpPr txBox="1"/>
          <p:nvPr/>
        </p:nvSpPr>
        <p:spPr>
          <a:xfrm>
            <a:off x="5107308" y="1470372"/>
            <a:ext cx="21301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Regional weekly health check &amp; escalation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6F477-DE04-4AE7-A4D4-A5C81B853CB6}"/>
              </a:ext>
            </a:extLst>
          </p:cNvPr>
          <p:cNvSpPr txBox="1"/>
          <p:nvPr/>
        </p:nvSpPr>
        <p:spPr>
          <a:xfrm>
            <a:off x="9152984" y="1470372"/>
            <a:ext cx="21301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leadership review of business performance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F4600A-5E9B-A4BE-472C-95CBB59418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604" y="248575"/>
            <a:ext cx="896044" cy="89604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7A17D2-BC13-041E-7A40-D826D07982C5}"/>
              </a:ext>
            </a:extLst>
          </p:cNvPr>
          <p:cNvSpPr/>
          <p:nvPr/>
        </p:nvSpPr>
        <p:spPr>
          <a:xfrm>
            <a:off x="306790" y="6067323"/>
            <a:ext cx="2130139" cy="539169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Cycle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57DDC4-6F89-733D-CB01-60A8453DA4FC}"/>
              </a:ext>
            </a:extLst>
          </p:cNvPr>
          <p:cNvSpPr/>
          <p:nvPr/>
        </p:nvSpPr>
        <p:spPr>
          <a:xfrm>
            <a:off x="2668860" y="6067323"/>
            <a:ext cx="2130139" cy="539169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Open Meetings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39F8775-B079-7AC5-950E-8CDAE865D823}"/>
              </a:ext>
            </a:extLst>
          </p:cNvPr>
          <p:cNvSpPr/>
          <p:nvPr/>
        </p:nvSpPr>
        <p:spPr>
          <a:xfrm>
            <a:off x="7393000" y="6064452"/>
            <a:ext cx="2130139" cy="539169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 Orientated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C91341-FB7D-7D23-4B13-02B69DD2E895}"/>
              </a:ext>
            </a:extLst>
          </p:cNvPr>
          <p:cNvSpPr/>
          <p:nvPr/>
        </p:nvSpPr>
        <p:spPr>
          <a:xfrm>
            <a:off x="9755071" y="6046909"/>
            <a:ext cx="2130139" cy="539169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Escalation Process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75197E7-EEBF-B944-7C89-933B2AFE125C}"/>
              </a:ext>
            </a:extLst>
          </p:cNvPr>
          <p:cNvSpPr/>
          <p:nvPr/>
        </p:nvSpPr>
        <p:spPr>
          <a:xfrm>
            <a:off x="5030930" y="6069816"/>
            <a:ext cx="2130139" cy="539169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Data Driven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5E025C-FA21-656B-B26E-2D05A97FC55F}"/>
              </a:ext>
            </a:extLst>
          </p:cNvPr>
          <p:cNvSpPr txBox="1"/>
          <p:nvPr/>
        </p:nvSpPr>
        <p:spPr>
          <a:xfrm>
            <a:off x="3383495" y="-3695077"/>
            <a:ext cx="54250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LAUNCHING FEB 2026!!!!!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67C302E-3C70-1AE8-3F4F-87C46FBDF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6" y="-10629147"/>
            <a:ext cx="3162015" cy="316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58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8" grpId="0" animBg="1"/>
      <p:bldP spid="36" grpId="0" animBg="1"/>
      <p:bldP spid="37" grpId="0" animBg="1"/>
      <p:bldP spid="39" grpId="0" animBg="1"/>
      <p:bldP spid="40" grpId="0" animBg="1"/>
      <p:bldP spid="10" grpId="0"/>
      <p:bldP spid="11" grpId="0"/>
      <p:bldP spid="20" grpId="0" animBg="1"/>
      <p:bldP spid="22" grpId="0" animBg="1"/>
      <p:bldP spid="27" grpId="0" animBg="1"/>
      <p:bldP spid="35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BC471-EF05-1920-41E0-B9000ECC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Elipse 13">
            <a:extLst>
              <a:ext uri="{FF2B5EF4-FFF2-40B4-BE49-F238E27FC236}">
                <a16:creationId xmlns:a16="http://schemas.microsoft.com/office/drawing/2014/main" id="{7D67374C-3A14-902F-63DE-0BCD7B04B906}"/>
              </a:ext>
            </a:extLst>
          </p:cNvPr>
          <p:cNvSpPr/>
          <p:nvPr/>
        </p:nvSpPr>
        <p:spPr>
          <a:xfrm>
            <a:off x="10003240" y="-1697627"/>
            <a:ext cx="2883269" cy="2883269"/>
          </a:xfrm>
          <a:prstGeom prst="ellipse">
            <a:avLst/>
          </a:prstGeom>
          <a:solidFill>
            <a:srgbClr val="AA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 14pt ExtraLight"/>
              <a:ea typeface="+mn-ea"/>
              <a:cs typeface="+mn-cs"/>
            </a:endParaRPr>
          </a:p>
        </p:txBody>
      </p:sp>
      <p:pic>
        <p:nvPicPr>
          <p:cNvPr id="71" name="Imagem 17" descr="Logotipo, Ícone&#10;&#10;Descrição gerada automaticamente">
            <a:extLst>
              <a:ext uri="{FF2B5EF4-FFF2-40B4-BE49-F238E27FC236}">
                <a16:creationId xmlns:a16="http://schemas.microsoft.com/office/drawing/2014/main" id="{6364A70A-FD36-EA5A-9B3F-5FAB06B7F0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1838" y="307533"/>
            <a:ext cx="1335587" cy="27830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886BFB-BA16-8B20-FCA9-3BC8E9360D7A}"/>
              </a:ext>
            </a:extLst>
          </p:cNvPr>
          <p:cNvSpPr/>
          <p:nvPr/>
        </p:nvSpPr>
        <p:spPr>
          <a:xfrm>
            <a:off x="8258789" y="2081548"/>
            <a:ext cx="2115650" cy="4675744"/>
          </a:xfrm>
          <a:prstGeom prst="roundRect">
            <a:avLst/>
          </a:prstGeom>
          <a:solidFill>
            <a:schemeClr val="bg1"/>
          </a:solidFill>
          <a:ln>
            <a:solidFill>
              <a:srgbClr val="AA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Leadership Committee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Sharlene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Lola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26CC2E-B154-36FA-4440-2EFBF196F2B8}"/>
              </a:ext>
            </a:extLst>
          </p:cNvPr>
          <p:cNvSpPr/>
          <p:nvPr/>
        </p:nvSpPr>
        <p:spPr>
          <a:xfrm>
            <a:off x="4212675" y="2081548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UK S&amp;OE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Natalija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EDAD59-1CC1-BB5F-43EE-1CE22216C791}"/>
              </a:ext>
            </a:extLst>
          </p:cNvPr>
          <p:cNvSpPr/>
          <p:nvPr/>
        </p:nvSpPr>
        <p:spPr>
          <a:xfrm>
            <a:off x="4212675" y="5357930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Iberia S&amp;OE</a:t>
            </a:r>
            <a:b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</a:t>
            </a:r>
            <a:b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Wilfred</a:t>
            </a:r>
            <a:b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5B4478-341A-896F-6915-B6AA008FC11A}"/>
              </a:ext>
            </a:extLst>
          </p:cNvPr>
          <p:cNvSpPr/>
          <p:nvPr/>
        </p:nvSpPr>
        <p:spPr>
          <a:xfrm>
            <a:off x="4212675" y="3729472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France S&amp;OE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Wilfred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Pablo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86A2FA-BDA8-C5A6-F33E-3406E3FBDEDD}"/>
              </a:ext>
            </a:extLst>
          </p:cNvPr>
          <p:cNvSpPr/>
          <p:nvPr/>
        </p:nvSpPr>
        <p:spPr>
          <a:xfrm>
            <a:off x="135340" y="2081548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O2C Process 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Review</a:t>
            </a:r>
            <a:b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Vicky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Alex</a:t>
            </a: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44FDFA-5C11-D950-8E2B-85926FCCD862}"/>
              </a:ext>
            </a:extLst>
          </p:cNvPr>
          <p:cNvSpPr/>
          <p:nvPr/>
        </p:nvSpPr>
        <p:spPr>
          <a:xfrm>
            <a:off x="135340" y="3729472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Traded Supply Meeting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Ed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Tyler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AF70B59-1CBE-15E3-4CB3-120E8A92A44C}"/>
              </a:ext>
            </a:extLst>
          </p:cNvPr>
          <p:cNvSpPr/>
          <p:nvPr/>
        </p:nvSpPr>
        <p:spPr>
          <a:xfrm>
            <a:off x="135340" y="5357930"/>
            <a:ext cx="2115650" cy="1411169"/>
          </a:xfrm>
          <a:prstGeom prst="roundRect">
            <a:avLst/>
          </a:prstGeom>
          <a:solidFill>
            <a:schemeClr val="bg1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Manufactured Supply Meeting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</a:t>
            </a:r>
            <a:r>
              <a:rPr kumimoji="0" lang="en-GB" sz="105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Chair: Ian</a:t>
            </a:r>
            <a:b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Actions: Dom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B78DB68-1E9C-A59E-992E-54DDE02DE2F6}"/>
              </a:ext>
            </a:extLst>
          </p:cNvPr>
          <p:cNvSpPr/>
          <p:nvPr/>
        </p:nvSpPr>
        <p:spPr>
          <a:xfrm>
            <a:off x="8258789" y="1432727"/>
            <a:ext cx="2115650" cy="539169"/>
          </a:xfrm>
          <a:prstGeom prst="roundRect">
            <a:avLst/>
          </a:prstGeom>
          <a:solidFill>
            <a:srgbClr val="AACD00"/>
          </a:solidFill>
          <a:ln>
            <a:solidFill>
              <a:srgbClr val="AA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Escalation Topics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DD2F4A4-ADB3-C205-01F1-FFC73008F91B}"/>
              </a:ext>
            </a:extLst>
          </p:cNvPr>
          <p:cNvSpPr/>
          <p:nvPr/>
        </p:nvSpPr>
        <p:spPr>
          <a:xfrm>
            <a:off x="4203010" y="1440384"/>
            <a:ext cx="2115650" cy="539169"/>
          </a:xfrm>
          <a:prstGeom prst="roundRect">
            <a:avLst/>
          </a:prstGeom>
          <a:solidFill>
            <a:srgbClr val="0C3C5D"/>
          </a:solidFill>
          <a:ln>
            <a:solidFill>
              <a:srgbClr val="0C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Actions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F523715-C825-ABEF-4EB1-9A7549637556}"/>
              </a:ext>
            </a:extLst>
          </p:cNvPr>
          <p:cNvSpPr/>
          <p:nvPr/>
        </p:nvSpPr>
        <p:spPr>
          <a:xfrm>
            <a:off x="149829" y="1417547"/>
            <a:ext cx="2115650" cy="539169"/>
          </a:xfrm>
          <a:prstGeom prst="roundRect">
            <a:avLst/>
          </a:prstGeom>
          <a:solidFill>
            <a:srgbClr val="B1CCBB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Detailed Inputs</a:t>
            </a:r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8CC85E34-6195-46AE-A4E9-1B5D7D580B01}"/>
              </a:ext>
            </a:extLst>
          </p:cNvPr>
          <p:cNvSpPr/>
          <p:nvPr/>
        </p:nvSpPr>
        <p:spPr>
          <a:xfrm rot="10800000">
            <a:off x="2265479" y="1444815"/>
            <a:ext cx="1791119" cy="484632"/>
          </a:xfrm>
          <a:prstGeom prst="leftArrow">
            <a:avLst/>
          </a:prstGeom>
          <a:solidFill>
            <a:srgbClr val="B1CCBB"/>
          </a:solidFill>
          <a:ln>
            <a:solidFill>
              <a:srgbClr val="B1CC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016A80BC-0738-F2C4-8477-186600859A5F}"/>
              </a:ext>
            </a:extLst>
          </p:cNvPr>
          <p:cNvSpPr/>
          <p:nvPr/>
        </p:nvSpPr>
        <p:spPr>
          <a:xfrm rot="10800000">
            <a:off x="6323047" y="1457225"/>
            <a:ext cx="1780253" cy="484632"/>
          </a:xfrm>
          <a:prstGeom prst="leftArrow">
            <a:avLst/>
          </a:prstGeom>
          <a:solidFill>
            <a:srgbClr val="0C3C5D"/>
          </a:solidFill>
          <a:ln>
            <a:solidFill>
              <a:srgbClr val="0C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7A3E3-9728-1F56-5DFF-76C01C990444}"/>
              </a:ext>
            </a:extLst>
          </p:cNvPr>
          <p:cNvSpPr txBox="1"/>
          <p:nvPr/>
        </p:nvSpPr>
        <p:spPr>
          <a:xfrm>
            <a:off x="1075140" y="305344"/>
            <a:ext cx="800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Business Optimisation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supporting</a:t>
            </a:r>
            <a:r>
              <a:rPr kumimoji="0" lang="en-GB" sz="2000" b="1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92D4A-41B2-C834-D091-307AB033067C}"/>
              </a:ext>
            </a:extLst>
          </p:cNvPr>
          <p:cNvSpPr txBox="1"/>
          <p:nvPr/>
        </p:nvSpPr>
        <p:spPr>
          <a:xfrm>
            <a:off x="1075140" y="728266"/>
            <a:ext cx="7667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ORDER TO CASH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ACCELERATION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GOVERNANCE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DE4F3F-4575-1520-8AFF-DDF460C877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604" y="248575"/>
            <a:ext cx="896044" cy="8960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A85813-343B-34C8-AC91-D36295308C83}"/>
              </a:ext>
            </a:extLst>
          </p:cNvPr>
          <p:cNvSpPr txBox="1"/>
          <p:nvPr/>
        </p:nvSpPr>
        <p:spPr>
          <a:xfrm>
            <a:off x="10373690" y="2093356"/>
            <a:ext cx="1818310" cy="476756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MTD volume position vs plan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(Lola)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European backorder overview &amp; topics for escalation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(Sharlene)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EM performance update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(Felipe)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Manufacturing Supply update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(Ian)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O2C Overview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(Vicky)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Anticipated orders remaining vs forecast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(Pablo)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Un-forecast demand review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(Pablo)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F&amp;PA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        (Alex)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CBC84-BD14-A424-FC65-B21502543B82}"/>
              </a:ext>
            </a:extLst>
          </p:cNvPr>
          <p:cNvSpPr txBox="1"/>
          <p:nvPr/>
        </p:nvSpPr>
        <p:spPr>
          <a:xfrm>
            <a:off x="6346419" y="2096723"/>
            <a:ext cx="1818310" cy="47675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Backorder sensitivity review &amp; snapshot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(Natalija / Wilfred)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Supply constraint updates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(Ed / Charléne / David)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Anticipated orders not yet received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(Sales leaders)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Variations from S&amp;OP forecast</a:t>
            </a:r>
            <a:b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(Pablo)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Distribution backlog review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(Stuart / Nestor / David)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2FBE0-3216-78BC-9802-982CF756BFF6}"/>
              </a:ext>
            </a:extLst>
          </p:cNvPr>
          <p:cNvSpPr txBox="1"/>
          <p:nvPr/>
        </p:nvSpPr>
        <p:spPr>
          <a:xfrm>
            <a:off x="2306568" y="2084023"/>
            <a:ext cx="1897132" cy="15496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review of held orders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Reinvoicing and credit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Update of on-going credit topics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Master data roadblocks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Top 10 overdue review by value by country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D699E-4C43-E30D-E9BF-82F607207CB7}"/>
              </a:ext>
            </a:extLst>
          </p:cNvPr>
          <p:cNvSpPr txBox="1"/>
          <p:nvPr/>
        </p:nvSpPr>
        <p:spPr>
          <a:xfrm>
            <a:off x="2306568" y="3703283"/>
            <a:ext cx="1818310" cy="155626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review of back orders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Review of current order book health with 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Prioritisation &amp; root </a:t>
            </a:r>
            <a:r>
              <a:rPr lang="en-GB" sz="1000">
                <a:solidFill>
                  <a:srgbClr val="0C3C5D"/>
                </a:solidFill>
                <a:latin typeface="Avenir Next LT Pro"/>
              </a:rPr>
              <a:t>cause analysis</a:t>
            </a:r>
            <a:endParaRPr lang="en-GB" sz="1000" dirty="0">
              <a:solidFill>
                <a:srgbClr val="0C3C5D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srgbClr val="0C3C5D"/>
                </a:solidFill>
                <a:latin typeface="Avenir Next LT Pro"/>
              </a:rPr>
              <a:t>Inventory</a:t>
            </a:r>
            <a:r>
              <a:rPr lang="en-GB" sz="1000" dirty="0">
                <a:solidFill>
                  <a:srgbClr val="0C3C5D"/>
                </a:solidFill>
                <a:latin typeface="Avenir Next LT Pro"/>
              </a:rPr>
              <a:t> status review</a:t>
            </a:r>
            <a:endParaRPr lang="en-GB" sz="1000" b="0" i="0" u="none" strike="noStrike" kern="1200" cap="none" spc="0" normalizeH="0" baseline="0" noProof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96092-D775-D7E1-508A-53DE816BB8D4}"/>
              </a:ext>
            </a:extLst>
          </p:cNvPr>
          <p:cNvSpPr txBox="1"/>
          <p:nvPr/>
        </p:nvSpPr>
        <p:spPr>
          <a:xfrm>
            <a:off x="2343439" y="5362913"/>
            <a:ext cx="1818310" cy="15496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Weekly review of back orders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Component supply constraints</a:t>
            </a:r>
            <a:endParaRPr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Manufacturing resource updates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Inventory status review</a:t>
            </a:r>
            <a:endParaRPr lang="en-GB" sz="1000" b="0" i="0" u="none" strike="noStrike" kern="1200" cap="none" spc="0" normalizeH="0" baseline="0" noProof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/>
            </a:endParaRPr>
          </a:p>
          <a:p>
            <a:pPr marL="285750" indent="-285750">
              <a:buFont typeface="Arial,Sans-Serif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C3C5D"/>
                </a:solidFill>
                <a:latin typeface="Avenir Next LT Pro"/>
              </a:rPr>
              <a:t>Prioritisation &amp; </a:t>
            </a:r>
            <a:r>
              <a:rPr lang="en-GB" sz="1000">
                <a:solidFill>
                  <a:srgbClr val="0C3C5D"/>
                </a:solidFill>
                <a:latin typeface="Avenir Next LT Pro"/>
              </a:rPr>
              <a:t>root cause</a:t>
            </a:r>
            <a:r>
              <a:rPr lang="en-GB" sz="1000" dirty="0">
                <a:solidFill>
                  <a:srgbClr val="0C3C5D"/>
                </a:solidFill>
                <a:latin typeface="Avenir Next LT Pro"/>
              </a:rPr>
              <a:t> analysis</a:t>
            </a:r>
            <a:endParaRPr lang="en-GB" dirty="0">
              <a:latin typeface="Avenir Next LT 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EB841-EEAC-7240-3902-386C7E5BF4C5}"/>
              </a:ext>
            </a:extLst>
          </p:cNvPr>
          <p:cNvSpPr txBox="1"/>
          <p:nvPr/>
        </p:nvSpPr>
        <p:spPr>
          <a:xfrm>
            <a:off x="4306134" y="2971969"/>
            <a:ext cx="1905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Mark + Rene + Giorgi + Andy + Ian + Ed + Dom + Stuart + Pablo + (Sharlene)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D45E4-F9E0-E5DD-CAC1-0906603F4090}"/>
              </a:ext>
            </a:extLst>
          </p:cNvPr>
          <p:cNvSpPr txBox="1"/>
          <p:nvPr/>
        </p:nvSpPr>
        <p:spPr>
          <a:xfrm>
            <a:off x="4318000" y="4628707"/>
            <a:ext cx="1905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Walter + Francis + Charléne + Nestor + Pablo + Celine B + (Sharlene)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A2F61D-7F95-1940-3A81-80F29239A8A8}"/>
              </a:ext>
            </a:extLst>
          </p:cNvPr>
          <p:cNvSpPr txBox="1"/>
          <p:nvPr/>
        </p:nvSpPr>
        <p:spPr>
          <a:xfrm>
            <a:off x="4318000" y="6249461"/>
            <a:ext cx="1905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Marta + Marlon + Marco + Rui +  David + Pablo + Elena + (Sharlene)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6BEB2C-AEE9-353D-2E54-BE7DFD6CAA6F}"/>
              </a:ext>
            </a:extLst>
          </p:cNvPr>
          <p:cNvSpPr txBox="1"/>
          <p:nvPr/>
        </p:nvSpPr>
        <p:spPr>
          <a:xfrm>
            <a:off x="255154" y="2971969"/>
            <a:ext cx="1905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Mike + Sharlene + Wilfred + Natalija + Andrey + Sales </a:t>
            </a:r>
            <a:r>
              <a:rPr kumimoji="0" lang="en-GB" sz="900" b="0" i="1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(Optional)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F3CE7-DDCA-618F-C57B-393D54A8AC7C}"/>
              </a:ext>
            </a:extLst>
          </p:cNvPr>
          <p:cNvSpPr txBox="1"/>
          <p:nvPr/>
        </p:nvSpPr>
        <p:spPr>
          <a:xfrm>
            <a:off x="243298" y="4628706"/>
            <a:ext cx="19050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+ Felipe + Sharlene + </a:t>
            </a:r>
            <a:r>
              <a:rPr lang="en-GB" sz="900" dirty="0">
                <a:solidFill>
                  <a:srgbClr val="0C3C5D"/>
                </a:solidFill>
                <a:latin typeface="Avenir Next LT Pro"/>
              </a:rPr>
              <a:t>Sukh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 + </a:t>
            </a:r>
            <a:r>
              <a:rPr kumimoji="0" lang="en-GB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Charléne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 + David + Balraj</a:t>
            </a:r>
            <a:r>
              <a:rPr lang="en-GB" sz="900" dirty="0">
                <a:solidFill>
                  <a:srgbClr val="0C3C5D"/>
                </a:solidFill>
                <a:latin typeface="Avenir Next LT Pro"/>
              </a:rPr>
              <a:t> </a:t>
            </a:r>
            <a:endParaRPr lang="en-GB" sz="900" b="0" i="0" u="none" strike="noStrike" kern="1200" cap="none" spc="0" normalizeH="0" baseline="0" noProof="0" dirty="0">
              <a:ln>
                <a:noFill/>
              </a:ln>
              <a:solidFill>
                <a:srgbClr val="0C3C5D"/>
              </a:solidFill>
              <a:effectLst/>
              <a:uLnTx/>
              <a:uFillTx/>
              <a:latin typeface="Avenir Next LT Pr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FEA58-26C1-6959-79EC-A24F0AE74639}"/>
              </a:ext>
            </a:extLst>
          </p:cNvPr>
          <p:cNvSpPr txBox="1"/>
          <p:nvPr/>
        </p:nvSpPr>
        <p:spPr>
          <a:xfrm>
            <a:off x="255154" y="6250313"/>
            <a:ext cx="1905000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+ Sharlene + Natalija + Ed + Josh + Carla + Liam + David +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/>
              </a:rPr>
              <a:t>Balraj + Petra</a:t>
            </a:r>
            <a:r>
              <a:rPr lang="en-GB" sz="900">
                <a:solidFill>
                  <a:srgbClr val="0C3C5D"/>
                </a:solidFill>
                <a:latin typeface="Avenir Next LT Pro"/>
              </a:rPr>
              <a:t> + Victor +Florin</a:t>
            </a: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90A65B-DD43-3F44-3686-7E8541F2A2DC}"/>
              </a:ext>
            </a:extLst>
          </p:cNvPr>
          <p:cNvSpPr txBox="1"/>
          <p:nvPr/>
        </p:nvSpPr>
        <p:spPr>
          <a:xfrm>
            <a:off x="8537286" y="4157601"/>
            <a:ext cx="15571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Dan + Rodrigo + Felipe + Mike</a:t>
            </a:r>
            <a:b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b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Lola + Vicky + Alex + Balraj + Pablo</a:t>
            </a:r>
            <a:b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b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</a:b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C3C5D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+ Ian + Ed + David + Charléne</a:t>
            </a:r>
          </a:p>
        </p:txBody>
      </p:sp>
    </p:spTree>
    <p:extLst>
      <p:ext uri="{BB962C8B-B14F-4D97-AF65-F5344CB8AC3E}">
        <p14:creationId xmlns:p14="http://schemas.microsoft.com/office/powerpoint/2010/main" val="3479478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Widescreen</PresentationFormat>
  <Paragraphs>87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Hedges</dc:creator>
  <cp:lastModifiedBy>Dan Hedges</cp:lastModifiedBy>
  <cp:revision>18</cp:revision>
  <dcterms:created xsi:type="dcterms:W3CDTF">2026-02-16T15:25:29Z</dcterms:created>
  <dcterms:modified xsi:type="dcterms:W3CDTF">2026-02-23T15:34:56Z</dcterms:modified>
</cp:coreProperties>
</file>